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DM Serif Display" pitchFamily="2" charset="0"/>
      <p:regular r:id="rId8"/>
    </p:embeddedFont>
    <p:embeddedFont>
      <p:font typeface="HK Grotesk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4FA78-E740-4DBA-A44F-92E54F4F79AC}" v="21" dt="2026-10-09T15:00:38.6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Gananathan" userId="4803d2b6ac6b3114" providerId="LiveId" clId="{E583D979-B8AE-4A7D-83D6-44F4CBA3CF71}"/>
    <pc:docChg chg="undo custSel modSld">
      <pc:chgData name="Sanjay Gananathan" userId="4803d2b6ac6b3114" providerId="LiveId" clId="{E583D979-B8AE-4A7D-83D6-44F4CBA3CF71}" dt="2026-10-09T15:15:59.845" v="518" actId="20577"/>
      <pc:docMkLst>
        <pc:docMk/>
      </pc:docMkLst>
      <pc:sldChg chg="addSp modSp mod">
        <pc:chgData name="Sanjay Gananathan" userId="4803d2b6ac6b3114" providerId="LiveId" clId="{E583D979-B8AE-4A7D-83D6-44F4CBA3CF71}" dt="2026-10-09T15:15:59.845" v="518" actId="20577"/>
        <pc:sldMkLst>
          <pc:docMk/>
          <pc:sldMk cId="0" sldId="256"/>
        </pc:sldMkLst>
        <pc:spChg chg="mod">
          <ac:chgData name="Sanjay Gananathan" userId="4803d2b6ac6b3114" providerId="LiveId" clId="{E583D979-B8AE-4A7D-83D6-44F4CBA3CF71}" dt="2026-10-09T15:15:59.845" v="518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anjay Gananathan" userId="4803d2b6ac6b3114" providerId="LiveId" clId="{E583D979-B8AE-4A7D-83D6-44F4CBA3CF71}" dt="2026-10-09T15:15:44.001" v="507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anjay Gananathan" userId="4803d2b6ac6b3114" providerId="LiveId" clId="{E583D979-B8AE-4A7D-83D6-44F4CBA3CF71}" dt="2026-10-09T14:35:35.446" v="460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anjay Gananathan" userId="4803d2b6ac6b3114" providerId="LiveId" clId="{E583D979-B8AE-4A7D-83D6-44F4CBA3CF71}" dt="2026-10-09T13:35:27.242" v="383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anjay Gananathan" userId="4803d2b6ac6b3114" providerId="LiveId" clId="{E583D979-B8AE-4A7D-83D6-44F4CBA3CF71}" dt="2026-10-09T14:34:11.984" v="440" actId="20577"/>
          <ac:spMkLst>
            <pc:docMk/>
            <pc:sldMk cId="0" sldId="256"/>
            <ac:spMk id="16" creationId="{00000000-0000-0000-0000-000000000000}"/>
          </ac:spMkLst>
        </pc:spChg>
        <pc:spChg chg="add mod">
          <ac:chgData name="Sanjay Gananathan" userId="4803d2b6ac6b3114" providerId="LiveId" clId="{E583D979-B8AE-4A7D-83D6-44F4CBA3CF71}" dt="2026-10-09T14:35:22.306" v="451"/>
          <ac:spMkLst>
            <pc:docMk/>
            <pc:sldMk cId="0" sldId="256"/>
            <ac:spMk id="17" creationId="{CFE1DFEC-9FDB-C4CC-B74C-1AF6BD3BD0A4}"/>
          </ac:spMkLst>
        </pc:spChg>
      </pc:sldChg>
      <pc:sldChg chg="addSp modSp mod">
        <pc:chgData name="Sanjay Gananathan" userId="4803d2b6ac6b3114" providerId="LiveId" clId="{E583D979-B8AE-4A7D-83D6-44F4CBA3CF71}" dt="2026-10-09T13:20:26.122" v="111" actId="122"/>
        <pc:sldMkLst>
          <pc:docMk/>
          <pc:sldMk cId="0" sldId="257"/>
        </pc:sldMkLst>
        <pc:spChg chg="add mod">
          <ac:chgData name="Sanjay Gananathan" userId="4803d2b6ac6b3114" providerId="LiveId" clId="{E583D979-B8AE-4A7D-83D6-44F4CBA3CF71}" dt="2026-10-09T13:20:26.122" v="111" actId="122"/>
          <ac:spMkLst>
            <pc:docMk/>
            <pc:sldMk cId="0" sldId="257"/>
            <ac:spMk id="6" creationId="{5A72D27E-0389-E093-F4CD-5AF75380FC4D}"/>
          </ac:spMkLst>
        </pc:spChg>
      </pc:sldChg>
      <pc:sldChg chg="addSp modSp mod">
        <pc:chgData name="Sanjay Gananathan" userId="4803d2b6ac6b3114" providerId="LiveId" clId="{E583D979-B8AE-4A7D-83D6-44F4CBA3CF71}" dt="2026-10-09T13:27:51.555" v="300" actId="255"/>
        <pc:sldMkLst>
          <pc:docMk/>
          <pc:sldMk cId="0" sldId="258"/>
        </pc:sldMkLst>
        <pc:spChg chg="add mod">
          <ac:chgData name="Sanjay Gananathan" userId="4803d2b6ac6b3114" providerId="LiveId" clId="{E583D979-B8AE-4A7D-83D6-44F4CBA3CF71}" dt="2026-10-09T13:27:51.555" v="300" actId="255"/>
          <ac:spMkLst>
            <pc:docMk/>
            <pc:sldMk cId="0" sldId="258"/>
            <ac:spMk id="6" creationId="{8AFF62E7-873A-FE7C-9AC2-6ECC620D3405}"/>
          </ac:spMkLst>
        </pc:spChg>
      </pc:sldChg>
      <pc:sldChg chg="addSp modSp mod">
        <pc:chgData name="Sanjay Gananathan" userId="4803d2b6ac6b3114" providerId="LiveId" clId="{E583D979-B8AE-4A7D-83D6-44F4CBA3CF71}" dt="2026-10-09T13:28:11.184" v="308" actId="20577"/>
        <pc:sldMkLst>
          <pc:docMk/>
          <pc:sldMk cId="0" sldId="259"/>
        </pc:sldMkLst>
        <pc:spChg chg="mod">
          <ac:chgData name="Sanjay Gananathan" userId="4803d2b6ac6b3114" providerId="LiveId" clId="{E583D979-B8AE-4A7D-83D6-44F4CBA3CF71}" dt="2026-10-09T13:26:58.154" v="290" actId="20577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Sanjay Gananathan" userId="4803d2b6ac6b3114" providerId="LiveId" clId="{E583D979-B8AE-4A7D-83D6-44F4CBA3CF71}" dt="2026-10-09T13:28:11.184" v="308" actId="20577"/>
          <ac:spMkLst>
            <pc:docMk/>
            <pc:sldMk cId="0" sldId="259"/>
            <ac:spMk id="6" creationId="{80A4F606-56CF-E52C-C54E-8644196B2D47}"/>
          </ac:spMkLst>
        </pc:spChg>
      </pc:sldChg>
      <pc:sldChg chg="addSp modSp mod">
        <pc:chgData name="Sanjay Gananathan" userId="4803d2b6ac6b3114" providerId="LiveId" clId="{E583D979-B8AE-4A7D-83D6-44F4CBA3CF71}" dt="2026-10-09T14:47:12.530" v="466" actId="20577"/>
        <pc:sldMkLst>
          <pc:docMk/>
          <pc:sldMk cId="0" sldId="260"/>
        </pc:sldMkLst>
        <pc:spChg chg="add mod">
          <ac:chgData name="Sanjay Gananathan" userId="4803d2b6ac6b3114" providerId="LiveId" clId="{E583D979-B8AE-4A7D-83D6-44F4CBA3CF71}" dt="2026-10-09T14:47:12.530" v="466" actId="20577"/>
          <ac:spMkLst>
            <pc:docMk/>
            <pc:sldMk cId="0" sldId="260"/>
            <ac:spMk id="6" creationId="{F52B5F8C-4CE2-8E2E-243F-B3023DFC3AC1}"/>
          </ac:spMkLst>
        </pc:spChg>
      </pc:sldChg>
      <pc:sldChg chg="addSp modSp mod">
        <pc:chgData name="Sanjay Gananathan" userId="4803d2b6ac6b3114" providerId="LiveId" clId="{E583D979-B8AE-4A7D-83D6-44F4CBA3CF71}" dt="2026-10-09T14:48:12.486" v="470" actId="20577"/>
        <pc:sldMkLst>
          <pc:docMk/>
          <pc:sldMk cId="0" sldId="261"/>
        </pc:sldMkLst>
        <pc:spChg chg="add mod">
          <ac:chgData name="Sanjay Gananathan" userId="4803d2b6ac6b3114" providerId="LiveId" clId="{E583D979-B8AE-4A7D-83D6-44F4CBA3CF71}" dt="2026-10-09T14:48:12.486" v="470" actId="20577"/>
          <ac:spMkLst>
            <pc:docMk/>
            <pc:sldMk cId="0" sldId="261"/>
            <ac:spMk id="6" creationId="{443DB1E5-1022-1765-73F8-3AF564C2B7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" b="-555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7492249" y="-1324332"/>
            <a:ext cx="3303502" cy="18288000"/>
            <a:chOff x="0" y="0"/>
            <a:chExt cx="870058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0058" cy="4816592"/>
            </a:xfrm>
            <a:custGeom>
              <a:avLst/>
              <a:gdLst/>
              <a:ahLst/>
              <a:cxnLst/>
              <a:rect l="l" t="t" r="r" b="b"/>
              <a:pathLst>
                <a:path w="870058" h="4816592">
                  <a:moveTo>
                    <a:pt x="0" y="0"/>
                  </a:moveTo>
                  <a:lnTo>
                    <a:pt x="870058" y="0"/>
                  </a:lnTo>
                  <a:lnTo>
                    <a:pt x="87005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1B0551">
                    <a:alpha val="45000"/>
                  </a:srgbClr>
                </a:gs>
                <a:gs pos="100000">
                  <a:srgbClr val="06112D">
                    <a:alpha val="4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70058" cy="4845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63446" y="1139026"/>
            <a:ext cx="47625" cy="47625"/>
            <a:chOff x="0" y="0"/>
            <a:chExt cx="12543" cy="125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3" cy="12543"/>
            </a:xfrm>
            <a:custGeom>
              <a:avLst/>
              <a:gdLst/>
              <a:ahLst/>
              <a:cxnLst/>
              <a:rect l="l" t="t" r="r" b="b"/>
              <a:pathLst>
                <a:path w="12543" h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6272"/>
                  </a:lnTo>
                  <a:cubicBezTo>
                    <a:pt x="12543" y="7935"/>
                    <a:pt x="11882" y="9530"/>
                    <a:pt x="10706" y="10706"/>
                  </a:cubicBezTo>
                  <a:cubicBezTo>
                    <a:pt x="9530" y="11882"/>
                    <a:pt x="7935" y="12543"/>
                    <a:pt x="6272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543" cy="4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35243" y="369503"/>
            <a:ext cx="3263903" cy="1053969"/>
          </a:xfrm>
          <a:custGeom>
            <a:avLst/>
            <a:gdLst/>
            <a:ahLst/>
            <a:cxnLst/>
            <a:rect l="l" t="t" r="r" b="b"/>
            <a:pathLst>
              <a:path w="3263903" h="1053969">
                <a:moveTo>
                  <a:pt x="0" y="0"/>
                </a:moveTo>
                <a:lnTo>
                  <a:pt x="3263903" y="0"/>
                </a:lnTo>
                <a:lnTo>
                  <a:pt x="3263903" y="1053969"/>
                </a:lnTo>
                <a:lnTo>
                  <a:pt x="0" y="1053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903794" y="1547297"/>
            <a:ext cx="12480412" cy="233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5"/>
              </a:lnSpc>
              <a:spcBef>
                <a:spcPct val="0"/>
              </a:spcBef>
            </a:pPr>
            <a:r>
              <a:rPr lang="en-US" sz="13711" b="1" dirty="0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SEDHACKS'26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396120"/>
            <a:ext cx="1492656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2700" dirty="0">
                <a:solidFill>
                  <a:schemeClr val="bg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Problem Statement Title: </a:t>
            </a:r>
            <a:r>
              <a:rPr lang="en-IN" sz="2800" dirty="0">
                <a:solidFill>
                  <a:schemeClr val="bg1"/>
                </a:solidFill>
                <a:latin typeface="DM Serif Display" pitchFamily="2" charset="0"/>
              </a:rPr>
              <a:t>Decision-Aware Trust Intelligence for Satellite Data{TRUSTLENS}</a:t>
            </a:r>
            <a:r>
              <a:rPr lang="en-US" sz="2700" dirty="0">
                <a:solidFill>
                  <a:schemeClr val="bg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endParaRPr lang="en-US" sz="2700" dirty="0">
              <a:solidFill>
                <a:schemeClr val="bg1"/>
              </a:solidFill>
              <a:latin typeface="DM Serif Display" pitchFamily="2" charset="0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66800" y="6979562"/>
            <a:ext cx="1492656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2699" dirty="0">
                <a:solidFill>
                  <a:schemeClr val="bg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Track: </a:t>
            </a:r>
            <a:r>
              <a:rPr lang="en-IN" sz="2800" dirty="0">
                <a:solidFill>
                  <a:schemeClr val="bg1"/>
                </a:solidFill>
                <a:latin typeface="DM Serif Display" pitchFamily="2" charset="0"/>
              </a:rPr>
              <a:t>Space Applications &amp; Defence Technology.</a:t>
            </a:r>
            <a:endParaRPr lang="en-US" sz="2699" dirty="0">
              <a:solidFill>
                <a:schemeClr val="bg1"/>
              </a:solidFill>
              <a:latin typeface="DM Serif Display" pitchFamily="2" charset="0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8654589"/>
            <a:ext cx="14355506" cy="455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744"/>
              </a:lnSpc>
              <a:spcBef>
                <a:spcPct val="0"/>
              </a:spcBef>
            </a:pPr>
            <a:r>
              <a:rPr lang="en-US" sz="2674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Team Name:  SATVERIQ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955268" y="-156477"/>
            <a:ext cx="1819044" cy="1819044"/>
          </a:xfrm>
          <a:custGeom>
            <a:avLst/>
            <a:gdLst/>
            <a:ahLst/>
            <a:cxnLst/>
            <a:rect l="l" t="t" r="r" b="b"/>
            <a:pathLst>
              <a:path w="1819044" h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7486824"/>
            <a:ext cx="14926568" cy="466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2700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Category[hardware/software]: Software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4275" y="8075469"/>
            <a:ext cx="14850993" cy="466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2700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 Lead Name: SREE VISHNUKUMAR 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55268" y="-156477"/>
            <a:ext cx="1819044" cy="1819044"/>
          </a:xfrm>
          <a:custGeom>
            <a:avLst/>
            <a:gdLst/>
            <a:ahLst/>
            <a:cxnLst/>
            <a:rect l="l" t="t" r="r" b="b"/>
            <a:pathLst>
              <a:path w="1819044" h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5243" y="369503"/>
            <a:ext cx="2719854" cy="878286"/>
          </a:xfrm>
          <a:custGeom>
            <a:avLst/>
            <a:gdLst/>
            <a:ahLst/>
            <a:cxnLst/>
            <a:rect l="l" t="t" r="r" b="b"/>
            <a:pathLst>
              <a:path w="2719854" h="878286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43669" y="604913"/>
            <a:ext cx="6400663" cy="56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820" b="1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PROPOSED SOLUTION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8256141" cy="10287000"/>
          </a:xfrm>
          <a:custGeom>
            <a:avLst/>
            <a:gdLst/>
            <a:ahLst/>
            <a:cxnLst/>
            <a:rect l="l" t="t" r="r" b="b"/>
            <a:pathLst>
              <a:path w="18256141" h="10287000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r="-5115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72D27E-0389-E093-F4CD-5AF75380FC4D}"/>
              </a:ext>
            </a:extLst>
          </p:cNvPr>
          <p:cNvSpPr txBox="1"/>
          <p:nvPr/>
        </p:nvSpPr>
        <p:spPr>
          <a:xfrm>
            <a:off x="457200" y="1866900"/>
            <a:ext cx="17145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r>
              <a:rPr lang="en-IN" sz="3200" b="1" dirty="0">
                <a:solidFill>
                  <a:schemeClr val="bg1"/>
                </a:solidFill>
              </a:rPr>
              <a:t>TRUSTLENS: Decision-Aware Trust Intelligence for Satellite Data</a:t>
            </a:r>
            <a:endParaRPr lang="en-IN" sz="3200" dirty="0">
              <a:solidFill>
                <a:schemeClr val="bg1"/>
              </a:solidFill>
            </a:endParaRPr>
          </a:p>
          <a:p>
            <a:pPr algn="ctr"/>
            <a:r>
              <a:rPr lang="en-IN" sz="3200" dirty="0">
                <a:solidFill>
                  <a:schemeClr val="bg1"/>
                </a:solidFill>
              </a:rPr>
              <a:t>TRUSTLENS is a software platform that evaluates the reliability of satellite observations, identifies conflicting information from different sources, and explains whether the available data is suitable for a specific decision.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</a:rPr>
              <a:t>Key Features</a:t>
            </a:r>
            <a:endParaRPr lang="en-IN" sz="3200" dirty="0">
              <a:solidFill>
                <a:schemeClr val="bg1"/>
              </a:solidFill>
            </a:endParaRPr>
          </a:p>
          <a:p>
            <a:pPr lvl="0" algn="ctr"/>
            <a:r>
              <a:rPr lang="en-IN" sz="3200" b="1" dirty="0">
                <a:solidFill>
                  <a:schemeClr val="bg1"/>
                </a:solidFill>
              </a:rPr>
              <a:t>Data Quality Assessment:</a:t>
            </a:r>
            <a:r>
              <a:rPr lang="en-IN" sz="3200" dirty="0">
                <a:solidFill>
                  <a:schemeClr val="bg1"/>
                </a:solidFill>
              </a:rPr>
              <a:t> Evaluates cloud cover, image quality, resolution, and data freshness.</a:t>
            </a:r>
          </a:p>
          <a:p>
            <a:pPr lvl="0" algn="ctr"/>
            <a:r>
              <a:rPr lang="en-IN" sz="3200" b="1" dirty="0">
                <a:solidFill>
                  <a:schemeClr val="bg1"/>
                </a:solidFill>
              </a:rPr>
              <a:t>Cross-Source Comparison:</a:t>
            </a:r>
            <a:r>
              <a:rPr lang="en-IN" sz="3200" dirty="0">
                <a:solidFill>
                  <a:schemeClr val="bg1"/>
                </a:solidFill>
              </a:rPr>
              <a:t> Compares satellite observations to identify inconsistencies.</a:t>
            </a:r>
          </a:p>
          <a:p>
            <a:pPr lvl="0" algn="ctr"/>
            <a:r>
              <a:rPr lang="en-IN" sz="3200" b="1" dirty="0">
                <a:solidFill>
                  <a:schemeClr val="bg1"/>
                </a:solidFill>
              </a:rPr>
              <a:t>Explainable Uncertainty:</a:t>
            </a:r>
            <a:r>
              <a:rPr lang="en-IN" sz="3200" dirty="0">
                <a:solidFill>
                  <a:schemeClr val="bg1"/>
                </a:solidFill>
              </a:rPr>
              <a:t> Shows why observations may be unreliable or conflicting.</a:t>
            </a:r>
          </a:p>
          <a:p>
            <a:pPr lvl="0" algn="ctr"/>
            <a:r>
              <a:rPr lang="en-IN" sz="3200" b="1" dirty="0">
                <a:solidFill>
                  <a:schemeClr val="bg1"/>
                </a:solidFill>
              </a:rPr>
              <a:t>Decision-Aware Recommendations:</a:t>
            </a:r>
            <a:r>
              <a:rPr lang="en-IN" sz="3200" dirty="0">
                <a:solidFill>
                  <a:schemeClr val="bg1"/>
                </a:solidFill>
              </a:rPr>
              <a:t> Suggests whether to use the data, investigate further, or obtain additional observations.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</a:rPr>
              <a:t>Core Innovation:</a:t>
            </a:r>
            <a:r>
              <a:rPr lang="en-IN" sz="3200" dirty="0">
                <a:solidFill>
                  <a:schemeClr val="bg1"/>
                </a:solidFill>
              </a:rPr>
              <a:t> Instead of simply displaying satellite data, TRUSTLENS helps users understand when and why they should trust it for a particular task.</a:t>
            </a:r>
          </a:p>
          <a:p>
            <a:pPr algn="ctr"/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55268" y="-156477"/>
            <a:ext cx="1819044" cy="1819044"/>
          </a:xfrm>
          <a:custGeom>
            <a:avLst/>
            <a:gdLst/>
            <a:ahLst/>
            <a:cxnLst/>
            <a:rect l="l" t="t" r="r" b="b"/>
            <a:pathLst>
              <a:path w="1819044" h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5243" y="369503"/>
            <a:ext cx="2719854" cy="878286"/>
          </a:xfrm>
          <a:custGeom>
            <a:avLst/>
            <a:gdLst/>
            <a:ahLst/>
            <a:cxnLst/>
            <a:rect l="l" t="t" r="r" b="b"/>
            <a:pathLst>
              <a:path w="2719854" h="878286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43669" y="604913"/>
            <a:ext cx="6882491" cy="56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0"/>
              </a:lnSpc>
            </a:pPr>
            <a:r>
              <a:rPr lang="en-US" sz="4820" b="1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TECHNICAL APPROACH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8256141" cy="10287000"/>
          </a:xfrm>
          <a:custGeom>
            <a:avLst/>
            <a:gdLst/>
            <a:ahLst/>
            <a:cxnLst/>
            <a:rect l="l" t="t" r="r" b="b"/>
            <a:pathLst>
              <a:path w="18256141" h="10287000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r="-5115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FF62E7-873A-FE7C-9AC2-6ECC620D3405}"/>
              </a:ext>
            </a:extLst>
          </p:cNvPr>
          <p:cNvSpPr txBox="1"/>
          <p:nvPr/>
        </p:nvSpPr>
        <p:spPr>
          <a:xfrm>
            <a:off x="838200" y="1693962"/>
            <a:ext cx="17393312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TRUSTLENS – Decision-Aware Trust Intelligence for Satellite Data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1. Data Collection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Collect satellite imagery and metadata from NASA </a:t>
            </a:r>
            <a:r>
              <a:rPr lang="en-IN" sz="2400" dirty="0" err="1">
                <a:solidFill>
                  <a:schemeClr val="bg1"/>
                </a:solidFill>
              </a:rPr>
              <a:t>Earthdata</a:t>
            </a:r>
            <a:r>
              <a:rPr lang="en-IN" sz="2400" dirty="0">
                <a:solidFill>
                  <a:schemeClr val="bg1"/>
                </a:solidFill>
              </a:rPr>
              <a:t> and Copernicus.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2. Data Quality Assessment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Evaluate cloud cover, image resolution, data freshness, and quality indicators.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3. Cross-Source Comparison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Compare observations from multiple sources to identify inconsistencies and conflicting information.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4. Decision-Aware Analysis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Assess data suitability for specific applications, such as flood monitoring and environmental assessment.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5. Explainable Results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Explain data limitations and recommend whether to use the data, investigate further, or collect additional observations.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6. Dashboard Development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Display observations, quality scores, conflicts, and recommendations through an interactive dashboard.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TECHNOLOGIES USED</a:t>
            </a:r>
            <a:endParaRPr lang="en-IN" sz="2400" dirty="0">
              <a:solidFill>
                <a:schemeClr val="bg1"/>
              </a:solidFill>
            </a:endParaRPr>
          </a:p>
          <a:p>
            <a:pPr lvl="0"/>
            <a:r>
              <a:rPr lang="en-IN" sz="2400" dirty="0">
                <a:solidFill>
                  <a:schemeClr val="bg1"/>
                </a:solidFill>
              </a:rPr>
              <a:t>Language: Python</a:t>
            </a:r>
          </a:p>
          <a:p>
            <a:pPr lvl="0"/>
            <a:r>
              <a:rPr lang="en-IN" sz="2400" dirty="0">
                <a:solidFill>
                  <a:schemeClr val="bg1"/>
                </a:solidFill>
              </a:rPr>
              <a:t>Data Processing: Pandas, NumPy</a:t>
            </a:r>
          </a:p>
          <a:p>
            <a:pPr lvl="0"/>
            <a:r>
              <a:rPr lang="en-IN" sz="2400" dirty="0">
                <a:solidFill>
                  <a:schemeClr val="bg1"/>
                </a:solidFill>
              </a:rPr>
              <a:t>Geospatial Analysis: </a:t>
            </a:r>
            <a:r>
              <a:rPr lang="en-IN" sz="2400" dirty="0" err="1">
                <a:solidFill>
                  <a:schemeClr val="bg1"/>
                </a:solidFill>
              </a:rPr>
              <a:t>GeoPandas</a:t>
            </a:r>
            <a:r>
              <a:rPr lang="en-IN" sz="2400" dirty="0">
                <a:solidFill>
                  <a:schemeClr val="bg1"/>
                </a:solidFill>
              </a:rPr>
              <a:t>, </a:t>
            </a:r>
            <a:r>
              <a:rPr lang="en-IN" sz="2400" dirty="0" err="1">
                <a:solidFill>
                  <a:schemeClr val="bg1"/>
                </a:solidFill>
              </a:rPr>
              <a:t>Rasterio</a:t>
            </a:r>
            <a:endParaRPr lang="en-IN" sz="2400" dirty="0">
              <a:solidFill>
                <a:schemeClr val="bg1"/>
              </a:solidFill>
            </a:endParaRPr>
          </a:p>
          <a:p>
            <a:pPr lvl="0"/>
            <a:r>
              <a:rPr lang="en-IN" sz="2400" dirty="0">
                <a:solidFill>
                  <a:schemeClr val="bg1"/>
                </a:solidFill>
              </a:rPr>
              <a:t>Interface &amp; Visualization: </a:t>
            </a:r>
            <a:r>
              <a:rPr lang="en-IN" sz="2400" dirty="0" err="1">
                <a:solidFill>
                  <a:schemeClr val="bg1"/>
                </a:solidFill>
              </a:rPr>
              <a:t>Streamlit</a:t>
            </a:r>
            <a:r>
              <a:rPr lang="en-IN" sz="2400" dirty="0">
                <a:solidFill>
                  <a:schemeClr val="bg1"/>
                </a:solidFill>
              </a:rPr>
              <a:t>, interactive maps</a:t>
            </a:r>
          </a:p>
          <a:p>
            <a:pPr lvl="0"/>
            <a:r>
              <a:rPr lang="en-IN" sz="2400" dirty="0">
                <a:solidFill>
                  <a:schemeClr val="bg1"/>
                </a:solidFill>
              </a:rPr>
              <a:t>Data Sources: NASA </a:t>
            </a:r>
            <a:r>
              <a:rPr lang="en-IN" sz="2400" dirty="0" err="1">
                <a:solidFill>
                  <a:schemeClr val="bg1"/>
                </a:solidFill>
              </a:rPr>
              <a:t>Earthdata</a:t>
            </a:r>
            <a:r>
              <a:rPr lang="en-IN" sz="2400" dirty="0">
                <a:solidFill>
                  <a:schemeClr val="bg1"/>
                </a:solidFill>
              </a:rPr>
              <a:t>, Copernicus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WORKFLOW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Data Collection → Quality Assessment → Comparison → Decision Analysis → Recommendations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55268" y="-156477"/>
            <a:ext cx="1819044" cy="1819044"/>
          </a:xfrm>
          <a:custGeom>
            <a:avLst/>
            <a:gdLst/>
            <a:ahLst/>
            <a:cxnLst/>
            <a:rect l="l" t="t" r="r" b="b"/>
            <a:pathLst>
              <a:path w="1819044" h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58206" y="604913"/>
            <a:ext cx="7171587" cy="56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0"/>
              </a:lnSpc>
            </a:pPr>
            <a:r>
              <a:rPr lang="en-US" sz="4820" b="1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FEASIBILITY &amp; VIABILITY</a:t>
            </a:r>
          </a:p>
        </p:txBody>
      </p:sp>
      <p:sp>
        <p:nvSpPr>
          <p:cNvPr id="4" name="Freeform 4"/>
          <p:cNvSpPr/>
          <p:nvPr/>
        </p:nvSpPr>
        <p:spPr>
          <a:xfrm>
            <a:off x="635243" y="369503"/>
            <a:ext cx="2719854" cy="878286"/>
          </a:xfrm>
          <a:custGeom>
            <a:avLst/>
            <a:gdLst/>
            <a:ahLst/>
            <a:cxnLst/>
            <a:rect l="l" t="t" r="r" b="b"/>
            <a:pathLst>
              <a:path w="2719854" h="878286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8256141" cy="10287000"/>
          </a:xfrm>
          <a:custGeom>
            <a:avLst/>
            <a:gdLst/>
            <a:ahLst/>
            <a:cxnLst/>
            <a:rect l="l" t="t" r="r" b="b"/>
            <a:pathLst>
              <a:path w="18256141" h="10287000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r="-51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4F606-56CF-E52C-C54E-8644196B2D47}"/>
              </a:ext>
            </a:extLst>
          </p:cNvPr>
          <p:cNvSpPr txBox="1"/>
          <p:nvPr/>
        </p:nvSpPr>
        <p:spPr>
          <a:xfrm>
            <a:off x="762000" y="1662567"/>
            <a:ext cx="1713906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Feasibility</a:t>
            </a:r>
            <a:endParaRPr lang="en-IN" sz="3200" dirty="0">
              <a:solidFill>
                <a:schemeClr val="bg1"/>
              </a:solidFill>
            </a:endParaRP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Uses publicly available satellite data from NASA and Copernicus.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Built using Python and open-source libraries.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Software prototype requires no specialized hardware.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Can be developed and tested using a simple interactive dashboard.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Viability</a:t>
            </a:r>
            <a:endParaRPr lang="en-IN" sz="3200" dirty="0">
              <a:solidFill>
                <a:schemeClr val="bg1"/>
              </a:solidFill>
            </a:endParaRP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Low development cost using free tools and datasets.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Scalable to different satellite sources and applications.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Useful for flood monitoring, agriculture, and environmental assessment.</a:t>
            </a:r>
          </a:p>
          <a:p>
            <a:pPr lvl="0"/>
            <a:r>
              <a:rPr lang="en-IN" sz="3200" dirty="0">
                <a:solidFill>
                  <a:schemeClr val="bg1"/>
                </a:solidFill>
              </a:rPr>
              <a:t>Can be improved with additional datasets and validation.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Validation:</a:t>
            </a:r>
            <a:r>
              <a:rPr lang="en-IN" sz="3200" dirty="0">
                <a:solidFill>
                  <a:schemeClr val="bg1"/>
                </a:solidFill>
              </a:rPr>
              <a:t> Test data quality checks and conflict detection against available metadata and reference observations.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55268" y="-156477"/>
            <a:ext cx="1819044" cy="1819044"/>
          </a:xfrm>
          <a:custGeom>
            <a:avLst/>
            <a:gdLst/>
            <a:ahLst/>
            <a:cxnLst/>
            <a:rect l="l" t="t" r="r" b="b"/>
            <a:pathLst>
              <a:path w="1819044" h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58206" y="604913"/>
            <a:ext cx="7171587" cy="56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0"/>
              </a:lnSpc>
            </a:pPr>
            <a:r>
              <a:rPr lang="en-US" sz="4820" b="1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IMPACT &amp; BENEFITS</a:t>
            </a:r>
          </a:p>
        </p:txBody>
      </p:sp>
      <p:sp>
        <p:nvSpPr>
          <p:cNvPr id="4" name="Freeform 4"/>
          <p:cNvSpPr/>
          <p:nvPr/>
        </p:nvSpPr>
        <p:spPr>
          <a:xfrm>
            <a:off x="635243" y="369503"/>
            <a:ext cx="2719854" cy="878286"/>
          </a:xfrm>
          <a:custGeom>
            <a:avLst/>
            <a:gdLst/>
            <a:ahLst/>
            <a:cxnLst/>
            <a:rect l="l" t="t" r="r" b="b"/>
            <a:pathLst>
              <a:path w="2719854" h="878286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8256141" cy="10287000"/>
          </a:xfrm>
          <a:custGeom>
            <a:avLst/>
            <a:gdLst/>
            <a:ahLst/>
            <a:cxnLst/>
            <a:rect l="l" t="t" r="r" b="b"/>
            <a:pathLst>
              <a:path w="18256141" h="10287000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r="-5115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B5F8C-4CE2-8E2E-243F-B3023DFC3AC1}"/>
              </a:ext>
            </a:extLst>
          </p:cNvPr>
          <p:cNvSpPr txBox="1"/>
          <p:nvPr/>
        </p:nvSpPr>
        <p:spPr>
          <a:xfrm>
            <a:off x="635243" y="2040434"/>
            <a:ext cx="172606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Impact</a:t>
            </a:r>
            <a:endParaRPr lang="en-IN" sz="2800" dirty="0">
              <a:solidFill>
                <a:schemeClr val="bg1"/>
              </a:solidFill>
            </a:endParaRP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Supports better-informed decisions using satellite data.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Helps identify conflicting observations early.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Improves awareness of data quality and uncertainty.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Supports applications in disaster management, agriculture, and environmental monitoring.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Benefits</a:t>
            </a:r>
            <a:endParaRPr lang="en-IN" sz="2800" dirty="0">
              <a:solidFill>
                <a:schemeClr val="bg1"/>
              </a:solidFill>
            </a:endParaRP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Provides clear, explainable data assessments.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Reduces the risk of relying on unsuitable observations.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Saves time through automated comparisons.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Offers a low-cost, scalable software solution.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Expected Outcome:</a:t>
            </a:r>
            <a:r>
              <a:rPr lang="en-IN" sz="2800" dirty="0">
                <a:solidFill>
                  <a:schemeClr val="bg1"/>
                </a:solidFill>
              </a:rPr>
              <a:t> More transparent and reliable use of satellite data for decision-making.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56141" cy="10287000"/>
          </a:xfrm>
          <a:custGeom>
            <a:avLst/>
            <a:gdLst/>
            <a:ahLst/>
            <a:cxnLst/>
            <a:rect l="l" t="t" r="r" b="b"/>
            <a:pathLst>
              <a:path w="18256141" h="10287000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-10568" r="-511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55268" y="-156477"/>
            <a:ext cx="1819044" cy="1819044"/>
          </a:xfrm>
          <a:custGeom>
            <a:avLst/>
            <a:gdLst/>
            <a:ahLst/>
            <a:cxnLst/>
            <a:rect l="l" t="t" r="r" b="b"/>
            <a:pathLst>
              <a:path w="1819044" h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58206" y="604913"/>
            <a:ext cx="7460684" cy="56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0"/>
              </a:lnSpc>
            </a:pPr>
            <a:r>
              <a:rPr lang="en-US" sz="4820" b="1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RESEARCH &amp; REFERENCE</a:t>
            </a:r>
          </a:p>
        </p:txBody>
      </p:sp>
      <p:sp>
        <p:nvSpPr>
          <p:cNvPr id="5" name="Freeform 5"/>
          <p:cNvSpPr/>
          <p:nvPr/>
        </p:nvSpPr>
        <p:spPr>
          <a:xfrm>
            <a:off x="635243" y="369503"/>
            <a:ext cx="2719854" cy="878286"/>
          </a:xfrm>
          <a:custGeom>
            <a:avLst/>
            <a:gdLst/>
            <a:ahLst/>
            <a:cxnLst/>
            <a:rect l="l" t="t" r="r" b="b"/>
            <a:pathLst>
              <a:path w="2719854" h="878286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3DB1E5-1022-1765-73F8-3AF564C2B765}"/>
              </a:ext>
            </a:extLst>
          </p:cNvPr>
          <p:cNvSpPr txBox="1"/>
          <p:nvPr/>
        </p:nvSpPr>
        <p:spPr>
          <a:xfrm>
            <a:off x="914400" y="1662567"/>
            <a:ext cx="16535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Research Sources</a:t>
            </a:r>
            <a:endParaRPr lang="en-IN" sz="2800" dirty="0">
              <a:solidFill>
                <a:schemeClr val="bg1"/>
              </a:solidFill>
            </a:endParaRP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NASA </a:t>
            </a:r>
            <a:r>
              <a:rPr lang="en-IN" sz="2800" dirty="0" err="1">
                <a:solidFill>
                  <a:schemeClr val="bg1"/>
                </a:solidFill>
              </a:rPr>
              <a:t>Earthdata</a:t>
            </a:r>
            <a:r>
              <a:rPr lang="en-IN" sz="2800" dirty="0">
                <a:solidFill>
                  <a:schemeClr val="bg1"/>
                </a:solidFill>
              </a:rPr>
              <a:t> – Satellite data and Earth observation datasets.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Copernicus Data Space Ecosystem – Earth observation imagery and services.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NASA Earth Observatory – Satellite imagery and environmental information.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Google Earth Engine – Geospatial analysis and satellite data processing.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Technical References</a:t>
            </a:r>
            <a:endParaRPr lang="en-IN" sz="2800" dirty="0">
              <a:solidFill>
                <a:schemeClr val="bg1"/>
              </a:solidFill>
            </a:endParaRP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Python – Data processing and analysis.</a:t>
            </a:r>
          </a:p>
          <a:p>
            <a:pPr lvl="0"/>
            <a:r>
              <a:rPr lang="en-IN" sz="2800" dirty="0" err="1">
                <a:solidFill>
                  <a:schemeClr val="bg1"/>
                </a:solidFill>
              </a:rPr>
              <a:t>GeoPandas</a:t>
            </a:r>
            <a:r>
              <a:rPr lang="en-IN" sz="2800" dirty="0">
                <a:solidFill>
                  <a:schemeClr val="bg1"/>
                </a:solidFill>
              </a:rPr>
              <a:t> &amp; </a:t>
            </a:r>
            <a:r>
              <a:rPr lang="en-IN" sz="2800" dirty="0" err="1">
                <a:solidFill>
                  <a:schemeClr val="bg1"/>
                </a:solidFill>
              </a:rPr>
              <a:t>Rasterio</a:t>
            </a:r>
            <a:r>
              <a:rPr lang="en-IN" sz="2800" dirty="0">
                <a:solidFill>
                  <a:schemeClr val="bg1"/>
                </a:solidFill>
              </a:rPr>
              <a:t> – Geospatial data handling.</a:t>
            </a:r>
          </a:p>
          <a:p>
            <a:pPr lvl="0"/>
            <a:r>
              <a:rPr lang="en-IN" sz="2800" dirty="0" err="1">
                <a:solidFill>
                  <a:schemeClr val="bg1"/>
                </a:solidFill>
              </a:rPr>
              <a:t>Streamlit</a:t>
            </a:r>
            <a:r>
              <a:rPr lang="en-IN" sz="2800" dirty="0">
                <a:solidFill>
                  <a:schemeClr val="bg1"/>
                </a:solidFill>
              </a:rPr>
              <a:t> – Interactive dashboard development.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Future Development</a:t>
            </a:r>
            <a:endParaRPr lang="en-IN" sz="2800" dirty="0">
              <a:solidFill>
                <a:schemeClr val="bg1"/>
              </a:solidFill>
            </a:endParaRP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Integrate additional satellite data sources.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Improve uncertainty assessment and conflict detection.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Validate results using reference observations and real-world use cases.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614</Words>
  <Application>Microsoft Office PowerPoint</Application>
  <PresentationFormat>Custom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DM Serif Display</vt:lpstr>
      <vt:lpstr>HK Grotesk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 ID: [XXXX] PS Title: [Problem Statement Title Here]</dc:title>
  <cp:lastModifiedBy>Sanjay Gananathan</cp:lastModifiedBy>
  <cp:revision>1</cp:revision>
  <dcterms:created xsi:type="dcterms:W3CDTF">2006-08-16T00:00:00Z</dcterms:created>
  <dcterms:modified xsi:type="dcterms:W3CDTF">2026-10-09T15:16:07Z</dcterms:modified>
  <dc:identifier>DAHW2RpwrMc</dc:identifier>
</cp:coreProperties>
</file>